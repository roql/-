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6" r:id="rId2"/>
    <p:sldId id="256" r:id="rId3"/>
    <p:sldId id="264" r:id="rId4"/>
    <p:sldId id="267" r:id="rId5"/>
    <p:sldId id="257" r:id="rId6"/>
    <p:sldId id="273" r:id="rId7"/>
    <p:sldId id="261" r:id="rId8"/>
    <p:sldId id="270" r:id="rId9"/>
    <p:sldId id="258" r:id="rId10"/>
    <p:sldId id="271" r:id="rId11"/>
    <p:sldId id="265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63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28" y="114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D441-5085-45B3-BE2E-49C77F5E5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EEF4F3-7C1E-4789-A960-83345D444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5F7CB-0D8E-46CB-966C-54F6FE48C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A1C8B-1926-48A1-9D4B-84C03D81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AD3DFE-916D-40EE-B416-D95F9FA7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73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1432D-8EAB-434F-A9CD-6D01673F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546A2-6A23-49DE-AD8D-24915B4C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669001-05FA-407F-B4C5-822BBBAE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E8C7AA-0172-4FBC-97F8-2DC02161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A2D2B-4A2D-49C0-9029-91D71834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6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61383-98A3-4B91-8E9D-1EE423C7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CFB453-5AA5-4E7B-A541-9B99295D3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1CBFDF-B432-49EC-82E7-7B31F672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84992-1080-4423-A572-F3D5A9DE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05708-724A-4401-81BC-E73E7316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47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A0833-3C32-4C3B-885A-0B7CF9F2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0228B-1ED5-4B88-BE51-A10E56B37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73819F-A1EE-49DE-8392-20D0DCAA0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2E0513-F8FB-404A-8217-DB47E083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E37639-0B6A-4952-8DB6-49395019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C9353-E025-443D-907B-3944FFE0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06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06D92-465D-488E-82C5-C0E5AD5C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A252F8-1252-42A4-B15B-59B6F0FEA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05540-8BFD-4583-835F-D41614009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5813F2-6700-448D-A0BA-2F103677E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541D61-08D7-4B25-9951-11DF15F52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E97874-194C-483A-BFD6-535F30A97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4BDB34-35C1-43A1-8F6D-57CB3BCD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05325-5D71-44EC-9C96-A6179A13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1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0A024-ABD2-4D5F-A983-590D2ADB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93F0E-ABE7-43F4-BA09-B6BF29C7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E4BE4E-1F80-42AF-BD29-8F0CBAB1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F6FE9-CBDC-4657-8B32-918333B1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9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AB8104-0F08-4BC4-A87D-1AF6AD49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E6DB92-241B-4DE6-8662-5F637A46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611CE-B765-4A54-B040-DBBC4668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05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52A88-52E7-48D1-998B-F4A709722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7FF5A-A716-4EA0-8877-3773D541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A8DE5D-EB48-4859-A49B-85DCD2450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AFCBA-3102-4E87-A7C9-4625D6B2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F5EC89-87B9-4580-9834-1E9715E3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AB298F-FD8A-45F2-B247-E034804C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21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F1FA1-775D-4FA6-AD19-7DF21749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701614-C760-4202-8BFC-0510D4E9E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F529A-5408-42DC-96E1-71AF18CF0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526E1C-7E1F-44B0-8B29-1EF2EB6D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E5C0A-25E4-4F98-8397-11275ABD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970ABC-9804-4490-81B7-DFF4109C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16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D1E28-B6E0-493F-8DB2-FE5D35CA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416FFE-C36D-42CF-B2BE-CD3AAD7A3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A1EE7-F1C5-4406-BA1F-DD71C3F3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02440-4A85-4C0B-8957-411967A5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011D9-9650-421F-A822-89E68BA0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15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31E03C-7B83-4DC9-BCDA-3C282D908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81EB89-8737-4B00-83FD-7D97CDE35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B26EE-7668-4329-B907-DB6BCD05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EA9175-B2A9-4811-AADC-D782AB8A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2A6D70-3C4A-43E1-9611-5C2C2FD8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87051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F9D3D8-1EFF-47EB-8239-2FA2641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4F669-7C39-4B7D-9BEA-7AFA5FEAF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DD6E8-FC72-4620-BBA4-64E0ACF4D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E3F0D-FC06-4E82-A002-757F83B4C1FB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7F885-2097-4616-93E5-40C97BCBF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47BCB-D321-4FA7-9945-BF195A9E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EDA1B-188A-4598-8A42-0DC89D7DF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15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9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hyperlink" Target="https://wikidocs.net/164796" TargetMode="External" /><Relationship Id="rId5" Type="http://schemas.openxmlformats.org/officeDocument/2006/relationships/hyperlink" Target="https://lcyking.tistory.com/entry/VGG-%EB%AA%A8%EB%8D%B8%EC%9D%98-%EA%B0%9C%EC%9A%94-%EB%B0%8F-%ED%8A%B9%EC%A7%95" TargetMode="External"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09267" y="1255222"/>
            <a:ext cx="9652958" cy="3102639"/>
          </a:xfrm>
        </p:spPr>
        <p:txBody>
          <a:bodyPr>
            <a:normAutofit/>
          </a:bodyPr>
          <a:lstStyle/>
          <a:p>
            <a:pPr algn="just"/>
            <a:r>
              <a:rPr lang="ko-KR" altLang="en-US" sz="4000"/>
              <a:t>이 슬라이드는 </a:t>
            </a:r>
            <a:r>
              <a:rPr lang="ko-KR" altLang="en-US" sz="4000" dirty="0"/>
              <a:t>결과물 설명 양식 및 예시를 포함하고 있습니다</a:t>
            </a:r>
            <a:r>
              <a:rPr lang="en-US" altLang="ko-KR" sz="4000" dirty="0"/>
              <a:t>. </a:t>
            </a:r>
            <a:r>
              <a:rPr lang="ko-KR" altLang="en-US" sz="4000" dirty="0"/>
              <a:t>양식의 내용은 반드시 </a:t>
            </a:r>
            <a:r>
              <a:rPr lang="ko-KR" altLang="en-US" sz="4000"/>
              <a:t>포함하여 작성하고 </a:t>
            </a:r>
            <a:r>
              <a:rPr lang="ko-KR" altLang="en-US" sz="4000" dirty="0"/>
              <a:t>추가 </a:t>
            </a:r>
            <a:r>
              <a:rPr lang="ko-KR" altLang="en-US" sz="4000"/>
              <a:t>가능합니다</a:t>
            </a:r>
            <a:r>
              <a:rPr lang="en-US" altLang="ko-KR" sz="4000"/>
              <a:t>.</a:t>
            </a:r>
            <a:br>
              <a:rPr lang="en-US" altLang="ko-KR" sz="4000"/>
            </a:br>
            <a:br>
              <a:rPr lang="en-US" altLang="ko-KR" sz="4000">
                <a:solidFill>
                  <a:srgbClr val="0070C0"/>
                </a:solidFill>
              </a:rPr>
            </a:br>
            <a:r>
              <a:rPr lang="en-US" altLang="ko-KR" sz="4000">
                <a:solidFill>
                  <a:srgbClr val="0070C0"/>
                </a:solidFill>
              </a:rPr>
              <a:t>* </a:t>
            </a:r>
            <a:r>
              <a:rPr lang="ko-KR" altLang="en-US" sz="4000">
                <a:solidFill>
                  <a:srgbClr val="0070C0"/>
                </a:solidFill>
              </a:rPr>
              <a:t>시연 동영상을 반드시 포함해야 합니다</a:t>
            </a:r>
            <a:r>
              <a:rPr lang="en-US" altLang="ko-KR" sz="4000">
                <a:solidFill>
                  <a:srgbClr val="0070C0"/>
                </a:solidFill>
              </a:rPr>
              <a:t>.</a:t>
            </a:r>
            <a:endParaRPr lang="ko-KR" altLang="en-US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1502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 b="1">
                <a:solidFill>
                  <a:schemeClr val="tx1">
                    <a:lumMod val="85000"/>
                    <a:lumOff val="15000"/>
                  </a:schemeClr>
                </a:solidFill>
              </a:rPr>
              <a:t>딥페이크 판별 어플리케이션</a:t>
            </a:r>
            <a:endParaRPr lang="ko-KR" altLang="en-US" sz="40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18142" y="3867955"/>
            <a:ext cx="4663382" cy="46664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b="1"/>
              <a:t>팀명</a:t>
            </a:r>
            <a:r>
              <a:rPr lang="en-US" altLang="ko-KR" b="1"/>
              <a:t>: COS_ggam3</a:t>
            </a:r>
            <a:endParaRPr lang="en-US" altLang="ko-KR" b="1"/>
          </a:p>
        </p:txBody>
      </p:sp>
      <p:pic>
        <p:nvPicPr>
          <p:cNvPr id="9" name="그림 8" descr="그리기이(가) 표시된 사진&#10;&#10;자동 생성된 설명">
            <a:extLst>
              <a:ext uri="{FF2B5EF4-FFF2-40B4-BE49-F238E27FC236}">
                <a16:creationId xmlns:a16="http://schemas.microsoft.com/office/drawing/2014/main" id="{A71909F9-8614-48A1-A27E-B0B55DA47C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64" y="6413374"/>
            <a:ext cx="1959605" cy="3361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DBE1E-084E-49E2-9F3D-C4D05CB3EEE3}"/>
              </a:ext>
            </a:extLst>
          </p:cNvPr>
          <p:cNvSpPr txBox="1"/>
          <p:nvPr/>
        </p:nvSpPr>
        <p:spPr>
          <a:xfrm>
            <a:off x="0" y="44087"/>
            <a:ext cx="3161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제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우석컴퓨팅사고창작대회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470F6D-9E44-4938-B17E-6CAC56C59806}"/>
              </a:ext>
            </a:extLst>
          </p:cNvPr>
          <p:cNvSpPr/>
          <p:nvPr/>
        </p:nvSpPr>
        <p:spPr>
          <a:xfrm>
            <a:off x="1524000" y="2316163"/>
            <a:ext cx="9588285" cy="2387600"/>
          </a:xfrm>
          <a:prstGeom prst="roundRect">
            <a:avLst>
              <a:gd name="adj" fmla="val 7614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7CDA03-D1AD-4FE7-8907-9ADFFFB42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802" y="1191654"/>
            <a:ext cx="1547813" cy="1547813"/>
          </a:xfrm>
          <a:prstGeom prst="rect">
            <a:avLst/>
          </a:prstGeom>
        </p:spPr>
      </p:pic>
      <p:pic>
        <p:nvPicPr>
          <p:cNvPr id="16" name="그림 15" descr="우산이(가) 표시된 사진&#10;&#10;자동 생성된 설명">
            <a:extLst>
              <a:ext uri="{FF2B5EF4-FFF2-40B4-BE49-F238E27FC236}">
                <a16:creationId xmlns:a16="http://schemas.microsoft.com/office/drawing/2014/main" id="{CCCF7C8A-239D-4DC5-B0C6-C642C576C6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20" y="1478477"/>
            <a:ext cx="1078728" cy="1078728"/>
          </a:xfrm>
          <a:prstGeom prst="rect">
            <a:avLst/>
          </a:prstGeom>
        </p:spPr>
      </p:pic>
      <p:pic>
        <p:nvPicPr>
          <p:cNvPr id="18" name="그림 17" descr="방이(가) 표시된 사진&#10;&#10;자동 생성된 설명">
            <a:extLst>
              <a:ext uri="{FF2B5EF4-FFF2-40B4-BE49-F238E27FC236}">
                <a16:creationId xmlns:a16="http://schemas.microsoft.com/office/drawing/2014/main" id="{067473D2-131D-4A7B-B722-D1DCB39974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927" y="1114119"/>
            <a:ext cx="1793358" cy="179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발표 순서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662" y="150956"/>
            <a:ext cx="785834" cy="785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C19E1-52C5-478A-891A-8E4617D20C30}"/>
              </a:ext>
            </a:extLst>
          </p:cNvPr>
          <p:cNvSpPr txBox="1"/>
          <p:nvPr/>
        </p:nvSpPr>
        <p:spPr>
          <a:xfrm>
            <a:off x="3983561" y="1404975"/>
            <a:ext cx="42248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3600" b="1" dirty="0"/>
              <a:t> 작품 소개</a:t>
            </a:r>
            <a:endParaRPr lang="en-US" altLang="ko-KR" sz="3600" b="1" dirty="0"/>
          </a:p>
          <a:p>
            <a:pPr marL="342900" indent="-342900">
              <a:buAutoNum type="arabicPeriod"/>
            </a:pPr>
            <a:r>
              <a:rPr lang="en-US" altLang="ko-KR" sz="3600" b="1"/>
              <a:t> </a:t>
            </a:r>
            <a:r>
              <a:rPr lang="ko-KR" altLang="en-US" sz="3600" b="1"/>
              <a:t>화면 흐름도</a:t>
            </a:r>
            <a:endParaRPr lang="en-US" altLang="ko-KR" sz="3600" b="1"/>
          </a:p>
          <a:p>
            <a:pPr marL="342900" indent="-342900">
              <a:buAutoNum type="arabicPeriod"/>
            </a:pPr>
            <a:r>
              <a:rPr lang="en-US" altLang="ko-KR" sz="3600" b="1"/>
              <a:t> </a:t>
            </a:r>
            <a:r>
              <a:rPr lang="ko-KR" altLang="en-US" sz="3600" b="1"/>
              <a:t>주요 기능 소개</a:t>
            </a:r>
            <a:endParaRPr lang="en-US" altLang="ko-KR" sz="3600" b="1" dirty="0"/>
          </a:p>
          <a:p>
            <a:pPr marL="342900" indent="-342900">
              <a:buAutoNum type="arabicPeriod"/>
            </a:pPr>
            <a:r>
              <a:rPr lang="en-US" altLang="ko-KR" sz="3600" b="1"/>
              <a:t> </a:t>
            </a:r>
            <a:r>
              <a:rPr lang="ko-KR" altLang="en-US" sz="3600" b="1"/>
              <a:t>시연 동영상</a:t>
            </a:r>
            <a:endParaRPr lang="en-US" altLang="ko-KR" sz="3600" b="1"/>
          </a:p>
          <a:p>
            <a:pPr marL="342900" indent="-342900">
              <a:buAutoNum type="arabicPeriod"/>
            </a:pPr>
            <a:r>
              <a:rPr lang="ko-KR" altLang="en-US" sz="3600" b="1"/>
              <a:t> 실행 방법</a:t>
            </a:r>
            <a:endParaRPr lang="en-US" altLang="ko-KR" sz="3600" b="1" dirty="0"/>
          </a:p>
          <a:p>
            <a:pPr marL="342900" indent="-342900">
              <a:buFontTx/>
              <a:buAutoNum type="arabicPeriod"/>
            </a:pPr>
            <a:r>
              <a:rPr lang="en-US" altLang="ko-KR" sz="3600" b="1"/>
              <a:t> </a:t>
            </a:r>
            <a:r>
              <a:rPr lang="ko-KR" altLang="en-US" sz="3600" b="1"/>
              <a:t>참고 자료</a:t>
            </a:r>
            <a:endParaRPr lang="en-US" altLang="ko-KR" sz="3600" b="1" dirty="0"/>
          </a:p>
          <a:p>
            <a:pPr marL="342900" lvl="0" indent="-342900">
              <a:buFontTx/>
              <a:buAutoNum type="arabicPeriod"/>
            </a:pPr>
            <a:r>
              <a:rPr lang="ko-KR" altLang="en-US" sz="3600" b="1" dirty="0">
                <a:solidFill>
                  <a:prstClr val="black"/>
                </a:solidFill>
              </a:rPr>
              <a:t> 향후 계획</a:t>
            </a:r>
            <a:br>
              <a:rPr lang="en-US" altLang="ko-KR" sz="3600" b="1" dirty="0">
                <a:solidFill>
                  <a:prstClr val="black"/>
                </a:solidFill>
              </a:rPr>
            </a:br>
            <a:r>
              <a:rPr lang="en-US" altLang="ko-KR" sz="2400" b="1" i="1" dirty="0">
                <a:solidFill>
                  <a:prstClr val="black"/>
                </a:solidFill>
              </a:rPr>
              <a:t>(</a:t>
            </a:r>
            <a:r>
              <a:rPr lang="ko-KR" altLang="en-US" sz="2400" b="1" i="1" dirty="0">
                <a:solidFill>
                  <a:prstClr val="black"/>
                </a:solidFill>
              </a:rPr>
              <a:t>추가 가능</a:t>
            </a:r>
            <a:r>
              <a:rPr lang="en-US" altLang="ko-KR" sz="2400" b="1" i="1" dirty="0">
                <a:solidFill>
                  <a:prstClr val="black"/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z="2400" i="1" dirty="0"/>
          </a:p>
        </p:txBody>
      </p:sp>
    </p:spTree>
    <p:extLst>
      <p:ext uri="{BB962C8B-B14F-4D97-AF65-F5344CB8AC3E}">
        <p14:creationId xmlns:p14="http://schemas.microsoft.com/office/powerpoint/2010/main" val="366564677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화면 흐름도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90" y="150956"/>
            <a:ext cx="785834" cy="785834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881148" y="1545671"/>
            <a:ext cx="1454727" cy="56526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시작화면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27144" y="2306703"/>
            <a:ext cx="1288473" cy="28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150"/>
              <a:t>메뉴 선택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192086" y="1553487"/>
            <a:ext cx="1454727" cy="56526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/>
              <a:t>모델 학습</a:t>
            </a:r>
            <a:endParaRPr lang="ko-KR" altLang="en-US" sz="1600" b="1"/>
          </a:p>
        </p:txBody>
      </p:sp>
      <p:sp>
        <p:nvSpPr>
          <p:cNvPr id="14" name="직사각형 13"/>
          <p:cNvSpPr/>
          <p:nvPr/>
        </p:nvSpPr>
        <p:spPr>
          <a:xfrm>
            <a:off x="3136069" y="2215367"/>
            <a:ext cx="1562480" cy="63447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모델 학습 시작</a:t>
            </a:r>
            <a:endParaRPr lang="ko-KR" altLang="en-US" sz="1400" b="1" spc="-150"/>
          </a:p>
          <a:p>
            <a:pPr algn="ctr">
              <a:defRPr/>
            </a:pPr>
            <a:r>
              <a:rPr lang="en-US" altLang="ko-KR" sz="1400" b="1" spc="-150"/>
              <a:t>train _modell</a:t>
            </a:r>
            <a:r>
              <a:rPr lang="ko-KR" altLang="en-US" sz="1400" b="1" spc="-150"/>
              <a:t> 함수 호출</a:t>
            </a:r>
            <a:endParaRPr lang="ko-KR" altLang="en-US" sz="1400" b="1" spc="-15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649184" y="1828304"/>
            <a:ext cx="856211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모서리가 둥근 직사각형 15"/>
          <p:cNvSpPr/>
          <p:nvPr/>
        </p:nvSpPr>
        <p:spPr>
          <a:xfrm>
            <a:off x="5505395" y="1553487"/>
            <a:ext cx="1454727" cy="56526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/>
              <a:t>파일 선택</a:t>
            </a:r>
            <a:endParaRPr lang="ko-KR" altLang="en-US" sz="1600" b="1"/>
          </a:p>
        </p:txBody>
      </p:sp>
      <p:sp>
        <p:nvSpPr>
          <p:cNvPr id="17" name="직사각형 16"/>
          <p:cNvSpPr/>
          <p:nvPr/>
        </p:nvSpPr>
        <p:spPr>
          <a:xfrm>
            <a:off x="5444993" y="2176223"/>
            <a:ext cx="1823438" cy="6083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파일 선택 화면</a:t>
            </a:r>
            <a:endParaRPr lang="ko-KR" altLang="en-US" sz="1400" b="1" spc="-150"/>
          </a:p>
          <a:p>
            <a:pPr algn="ctr">
              <a:defRPr/>
            </a:pPr>
            <a:r>
              <a:rPr lang="ko-KR" altLang="en-US" sz="1400" b="1" spc="-150"/>
              <a:t>(파일 탐색기 열기) </a:t>
            </a:r>
            <a:endParaRPr lang="ko-KR" altLang="en-US" sz="1400" b="1" spc="-150"/>
          </a:p>
        </p:txBody>
      </p:sp>
      <p:sp>
        <p:nvSpPr>
          <p:cNvPr id="18" name="직사각형 17"/>
          <p:cNvSpPr/>
          <p:nvPr/>
        </p:nvSpPr>
        <p:spPr>
          <a:xfrm>
            <a:off x="5379753" y="2923456"/>
            <a:ext cx="1980013" cy="6751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이미지 또는 비디오 선택</a:t>
            </a:r>
            <a:endParaRPr lang="ko-KR" altLang="en-US" sz="1400" b="1" spc="-150"/>
          </a:p>
          <a:p>
            <a:pPr algn="ctr">
              <a:defRPr/>
            </a:pPr>
            <a:r>
              <a:rPr lang="ko-KR" altLang="en-US" sz="1400" b="1" spc="-150"/>
              <a:t>(비디오 -&gt; 프레임 추출)</a:t>
            </a:r>
            <a:endParaRPr lang="ko-KR" altLang="en-US" sz="1400" b="1" spc="-150"/>
          </a:p>
        </p:txBody>
      </p:sp>
      <p:sp>
        <p:nvSpPr>
          <p:cNvPr id="20" name="직사각형 19"/>
          <p:cNvSpPr/>
          <p:nvPr/>
        </p:nvSpPr>
        <p:spPr>
          <a:xfrm>
            <a:off x="5366706" y="3764107"/>
            <a:ext cx="1940869" cy="64752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딥페이크 판별 결과 출력</a:t>
            </a:r>
            <a:endParaRPr lang="ko-KR" altLang="en-US" sz="1400" b="1" spc="-150"/>
          </a:p>
          <a:p>
            <a:pPr algn="ctr">
              <a:defRPr/>
            </a:pPr>
            <a:r>
              <a:rPr lang="ko-KR" altLang="en-US" sz="1400" b="1" spc="-150"/>
              <a:t>(딥페이크 / 진짜 판별) </a:t>
            </a:r>
            <a:endParaRPr lang="ko-KR" altLang="en-US" sz="1400" b="1" spc="-15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10094449" y="4716135"/>
            <a:ext cx="1454727" cy="56526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/>
              <a:t>파일선택</a:t>
            </a:r>
            <a:endParaRPr lang="ko-KR" altLang="en-US" sz="1600" b="1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10120544" y="5527603"/>
            <a:ext cx="1454727" cy="56526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/>
              <a:t>모델학습</a:t>
            </a:r>
            <a:endParaRPr lang="ko-KR" altLang="en-US" sz="1600" b="1"/>
          </a:p>
        </p:txBody>
      </p:sp>
      <p:grpSp>
        <p:nvGrpSpPr>
          <p:cNvPr id="33" name="그룹 32"/>
          <p:cNvGrpSpPr/>
          <p:nvPr/>
        </p:nvGrpSpPr>
        <p:grpSpPr>
          <a:xfrm rot="0">
            <a:off x="2335874" y="1828304"/>
            <a:ext cx="7707129" cy="4002811"/>
            <a:chOff x="2335874" y="1828304"/>
            <a:chExt cx="7707129" cy="4002811"/>
          </a:xfrm>
        </p:grpSpPr>
        <p:cxnSp>
          <p:nvCxnSpPr>
            <p:cNvPr id="10" name="직선 화살표 연결선 9"/>
            <p:cNvCxnSpPr>
              <a:stCxn id="6" idx="3"/>
            </p:cNvCxnSpPr>
            <p:nvPr/>
          </p:nvCxnSpPr>
          <p:spPr>
            <a:xfrm>
              <a:off x="2335875" y="1828304"/>
              <a:ext cx="856211" cy="0"/>
            </a:xfrm>
            <a:prstGeom prst="straightConnector1">
              <a:avLst/>
            </a:prstGeom>
            <a:ln w="3810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/>
            <p:nvPr/>
          </p:nvCxnSpPr>
          <p:spPr>
            <a:xfrm>
              <a:off x="2335876" y="4985719"/>
              <a:ext cx="7576648" cy="10328"/>
            </a:xfrm>
            <a:prstGeom prst="straightConnector1">
              <a:avLst/>
            </a:prstGeom>
            <a:ln w="3810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>
              <a:off x="2335874" y="5823283"/>
              <a:ext cx="7707129" cy="7832"/>
            </a:xfrm>
            <a:prstGeom prst="straightConnector1">
              <a:avLst/>
            </a:prstGeom>
            <a:ln w="3810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2345603" y="1828304"/>
              <a:ext cx="0" cy="3994979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직사각형 16"/>
          <p:cNvSpPr/>
          <p:nvPr/>
        </p:nvSpPr>
        <p:spPr>
          <a:xfrm>
            <a:off x="3194746" y="2966622"/>
            <a:ext cx="1549431" cy="6475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모델 훈련 시작</a:t>
            </a:r>
            <a:endParaRPr lang="ko-KR" altLang="en-US" sz="1400" b="1" spc="-150"/>
          </a:p>
          <a:p>
            <a:pPr algn="ctr">
              <a:defRPr/>
            </a:pPr>
            <a:r>
              <a:rPr lang="en-US" altLang="ko-KR" sz="1400" b="1" spc="-150"/>
              <a:t>(</a:t>
            </a:r>
            <a:r>
              <a:rPr lang="ko-KR" altLang="en-US" sz="1400" b="1" spc="-150"/>
              <a:t>훈련 및 콜백 함수 적용</a:t>
            </a:r>
            <a:r>
              <a:rPr lang="en-US" altLang="ko-KR" sz="1400" b="1" spc="-150"/>
              <a:t>)</a:t>
            </a:r>
            <a:endParaRPr lang="en-US" altLang="ko-KR" sz="1400" b="1" spc="-150"/>
          </a:p>
        </p:txBody>
      </p:sp>
      <p:sp>
        <p:nvSpPr>
          <p:cNvPr id="36" name="직사각형 16"/>
          <p:cNvSpPr/>
          <p:nvPr/>
        </p:nvSpPr>
        <p:spPr>
          <a:xfrm>
            <a:off x="3187699" y="3747021"/>
            <a:ext cx="1588576" cy="72581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spc="-150"/>
              <a:t>학습 종료 및 결과 저장</a:t>
            </a:r>
            <a:endParaRPr lang="ko-KR" altLang="en-US" sz="1400" b="1" spc="-150"/>
          </a:p>
          <a:p>
            <a:pPr algn="ctr">
              <a:defRPr/>
            </a:pPr>
            <a:r>
              <a:rPr lang="ko-KR" altLang="en-US" sz="1400" b="1" spc="-150"/>
              <a:t> (학습 결과 시각화)</a:t>
            </a:r>
            <a:endParaRPr lang="ko-KR" altLang="en-US" sz="1400" b="1" spc="-150"/>
          </a:p>
        </p:txBody>
      </p:sp>
      <p:cxnSp>
        <p:nvCxnSpPr>
          <p:cNvPr id="37" name="직선 화살표 연결선 14"/>
          <p:cNvCxnSpPr/>
          <p:nvPr/>
        </p:nvCxnSpPr>
        <p:spPr>
          <a:xfrm>
            <a:off x="7006687" y="1837176"/>
            <a:ext cx="856211" cy="0"/>
          </a:xfrm>
          <a:prstGeom prst="straightConnector1">
            <a:avLst/>
          </a:prstGeom>
          <a:noFill/>
          <a:ln w="38100" cap="flat" cmpd="sng" algn="ctr">
            <a:solidFill>
              <a:srgbClr val="ed7d31">
                <a:alpha val="100000"/>
              </a:srgbClr>
            </a:solidFill>
            <a:prstDash val="solid"/>
            <a:miter/>
            <a:tailEnd type="triangle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cxnSp>
      <p:sp>
        <p:nvSpPr>
          <p:cNvPr id="38" name="모서리가 둥근 직사각형 15"/>
          <p:cNvSpPr/>
          <p:nvPr/>
        </p:nvSpPr>
        <p:spPr>
          <a:xfrm>
            <a:off x="7919264" y="1579582"/>
            <a:ext cx="1454727" cy="56526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b="1"/>
              <a:t>종료</a:t>
            </a:r>
            <a:endParaRPr lang="ko-KR" altLang="en-US" sz="1600" b="1"/>
          </a:p>
        </p:txBody>
      </p:sp>
    </p:spTree>
    <p:extLst>
      <p:ext uri="{BB962C8B-B14F-4D97-AF65-F5344CB8AC3E}">
        <p14:creationId xmlns:p14="http://schemas.microsoft.com/office/powerpoint/2010/main" val="1048003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작품 </a:t>
            </a:r>
            <a:r>
              <a: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소개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90" y="150956"/>
            <a:ext cx="785834" cy="785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5969" y="1107643"/>
            <a:ext cx="11233257" cy="497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/>
              <a:t>분야 </a:t>
            </a:r>
            <a:r>
              <a:rPr lang="en-US" altLang="ko-KR" sz="2400" b="1"/>
              <a:t>: </a:t>
            </a:r>
            <a:r>
              <a:rPr lang="ko-KR" altLang="en-US" sz="2400"/>
              <a:t>전공융합</a:t>
            </a:r>
            <a:endParaRPr lang="ko-KR" altLang="en-US" sz="2400"/>
          </a:p>
          <a:p>
            <a:pPr lvl="0">
              <a:defRPr/>
            </a:pPr>
            <a:endParaRPr lang="ko-KR" altLang="en-US" i="1"/>
          </a:p>
          <a:p>
            <a:pPr lvl="0">
              <a:defRPr/>
            </a:pPr>
            <a:r>
              <a:rPr lang="ko-KR" altLang="en-US" sz="2400" b="1"/>
              <a:t>개발언어</a:t>
            </a:r>
            <a:r>
              <a:rPr lang="en-US" altLang="ko-KR" sz="2400" b="1"/>
              <a:t>: </a:t>
            </a:r>
            <a:r>
              <a:rPr lang="ko-KR" altLang="en-US" sz="2400" b="1"/>
              <a:t>파이썬</a:t>
            </a:r>
            <a:endParaRPr lang="ko-KR" altLang="en-US" sz="2400" b="1"/>
          </a:p>
          <a:p>
            <a:pPr lvl="0">
              <a:defRPr/>
            </a:pPr>
            <a:endParaRPr lang="en-US" altLang="ko-KR" sz="2400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ko-KR" altLang="en-US" sz="2400" b="1"/>
              <a:t>개발 동기 </a:t>
            </a:r>
            <a:r>
              <a:rPr lang="en-US" altLang="ko-KR" sz="2400" b="1"/>
              <a:t>: </a:t>
            </a:r>
            <a:endParaRPr lang="en-US" altLang="ko-KR" sz="2400" b="1"/>
          </a:p>
          <a:p>
            <a:pPr marL="0" indent="0">
              <a:lnSpc>
                <a:spcPts val="2850"/>
              </a:lnSpc>
              <a:buNone/>
              <a:defRPr/>
            </a:pPr>
            <a:r>
              <a:rPr lang="ko-KR" alt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저희는 정보보안학과 학생으로써 최근 사회적으로 이슈가 많이 되고 있는 </a:t>
            </a: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딥페이크</a:t>
            </a:r>
            <a:r>
              <a:rPr lang="ko-KR" alt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 기술의 발전으로 인해 발생할 수 있는 사회적 문제를 해결하는데 도움이 되고자 만들게되었습니다</a:t>
            </a:r>
            <a:r>
              <a:rPr lang="en-US" altLang="ko-KR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.</a:t>
            </a:r>
            <a:r>
              <a:rPr lang="ko-KR" alt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 최신 딥러닝 모델을 활용해 진짜와 가짜 사진및 영상을 구별할 수 있는 도구를 만들게 되었습니다</a:t>
            </a:r>
            <a:r>
              <a:rPr lang="en-US" altLang="ko-KR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.</a:t>
            </a:r>
            <a:endParaRPr lang="en-US" altLang="ko-KR" sz="2000">
              <a:solidFill>
                <a:srgbClr val="4a4a45"/>
              </a:solidFill>
              <a:latin typeface="Lato"/>
              <a:ea typeface="Lato"/>
              <a:cs typeface="Lato"/>
            </a:endParaRPr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ko-KR" altLang="en-US" sz="2400" b="1"/>
              <a:t>작품 개요 </a:t>
            </a:r>
            <a:r>
              <a:rPr lang="en-US" altLang="ko-KR" sz="2400" b="1"/>
              <a:t>:</a:t>
            </a:r>
            <a:endParaRPr lang="en-US" altLang="ko-KR" sz="2400" b="1"/>
          </a:p>
          <a:p>
            <a:pPr lvl="0">
              <a:defRPr/>
            </a:pPr>
            <a:r>
              <a:rPr lang="ko-KR" altLang="en-US"/>
              <a:t>프로그램을 시작하면 파일선택</a:t>
            </a:r>
            <a:r>
              <a:rPr lang="en-US" altLang="ko-KR"/>
              <a:t>,</a:t>
            </a:r>
            <a:r>
              <a:rPr lang="ko-KR" altLang="en-US"/>
              <a:t> 모델학습</a:t>
            </a:r>
            <a:r>
              <a:rPr lang="en-US" altLang="ko-KR"/>
              <a:t>,</a:t>
            </a:r>
            <a:r>
              <a:rPr lang="ko-KR" altLang="en-US"/>
              <a:t> 종료 총 </a:t>
            </a:r>
            <a:r>
              <a:rPr lang="en-US" altLang="ko-KR"/>
              <a:t>3</a:t>
            </a:r>
            <a:r>
              <a:rPr lang="ko-KR" altLang="en-US"/>
              <a:t>개의 메뉴가 나타난다</a:t>
            </a:r>
            <a:r>
              <a:rPr lang="en-US" altLang="ko-KR"/>
              <a:t>. </a:t>
            </a:r>
            <a:r>
              <a:rPr lang="ko-KR" altLang="en-US"/>
              <a:t>파일 선택 메뉴를 선택하면 자신의 </a:t>
            </a:r>
            <a:r>
              <a:rPr lang="en-US" altLang="ko-KR"/>
              <a:t>PC</a:t>
            </a:r>
            <a:r>
              <a:rPr lang="ko-KR" altLang="en-US"/>
              <a:t>에 있는 사진이나 비디오를 선택 할 수 있는 데 파일을 선택하면   미리 딥러닝된 </a:t>
            </a:r>
            <a:r>
              <a:rPr lang="en-US" altLang="ko-KR"/>
              <a:t>AI</a:t>
            </a:r>
            <a:r>
              <a:rPr lang="ko-KR" altLang="en-US"/>
              <a:t>모델 </a:t>
            </a:r>
            <a:r>
              <a:rPr lang="en-US" altLang="ko-KR"/>
              <a:t>VGG</a:t>
            </a:r>
            <a:r>
              <a:rPr lang="ko-KR" altLang="en-US"/>
              <a:t>모델이 프레임 여부 및 비율을 분석하여 진짜 사진인지 가짜사진인지 여부를 알려준다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,</a:t>
            </a:r>
            <a:r>
              <a:rPr lang="ko-KR" altLang="en-US"/>
              <a:t> 모델 학습메뉴를 선택하면 자신이 직접 사진을 </a:t>
            </a:r>
            <a:r>
              <a:rPr lang="en-US" altLang="ko-KR"/>
              <a:t>AI</a:t>
            </a:r>
            <a:r>
              <a:rPr lang="ko-KR" altLang="en-US"/>
              <a:t>모델에 학습시킬 수 있다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모델이 사진을 많이 학습</a:t>
            </a:r>
            <a:r>
              <a:rPr lang="en-US" altLang="ko-KR"/>
              <a:t> </a:t>
            </a:r>
            <a:r>
              <a:rPr lang="ko-KR" altLang="en-US"/>
              <a:t>할수록 그 결과는 더욱 정확해진다</a:t>
            </a:r>
            <a:r>
              <a:rPr lang="en-US" altLang="ko-KR"/>
              <a:t>.</a:t>
            </a:r>
            <a:r>
              <a:rPr lang="ko-KR" altLang="en-US"/>
              <a:t> 종료 버튼을 선택하면 어플리케이션이 종료된다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3681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68900" y="2463324"/>
            <a:ext cx="2796024" cy="22012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실행화면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496189" y="2463324"/>
            <a:ext cx="2796024" cy="22012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실행화면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747411" y="2463324"/>
            <a:ext cx="2796024" cy="22012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실행화면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화면 흐름도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90" y="150956"/>
            <a:ext cx="785834" cy="78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49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3.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주요 기능 소개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90" y="150956"/>
            <a:ext cx="785834" cy="7858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3148" y="1824450"/>
            <a:ext cx="10131699" cy="118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l"/>
              <a:defRPr/>
            </a:pPr>
            <a:r>
              <a:rPr lang="ko-KR" altLang="en-US"/>
              <a:t>딥페이크 판별기능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사용자가 사진을 선택하면 </a:t>
            </a:r>
            <a:r>
              <a:rPr lang="en-US" altLang="ko-KR"/>
              <a:t>VGG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 학습모델이 지금까지 학습한 진짜 사진과 가짜사진을 바탕으로 사용자의 사진의 진실여부를 판단해준다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9" name="TextBox 8"/>
          <p:cNvSpPr txBox="1"/>
          <p:nvPr/>
        </p:nvSpPr>
        <p:spPr>
          <a:xfrm>
            <a:off x="1063146" y="4279479"/>
            <a:ext cx="10201119" cy="11859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l"/>
              <a:defRPr/>
            </a:pPr>
            <a:r>
              <a:rPr lang="ko-KR" altLang="en-US"/>
              <a:t>데이터 학습 기능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r>
              <a:rPr lang="en-US" altLang="ko-KR"/>
              <a:t>AI</a:t>
            </a:r>
            <a:r>
              <a:rPr lang="ko-KR" altLang="en-US"/>
              <a:t> 모델이 더욱 많은 양의 데이터를 학습해야 더욱 정밀한 판별결과가 나오기에 사용자가 직접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데이터를 학습 할 수 있게 만들었다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415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3.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주요 기능 소개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90" y="150956"/>
            <a:ext cx="785834" cy="7858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276" y="1606051"/>
            <a:ext cx="348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/>
              <a:t>문제 풀기에서 문제 선택하기</a:t>
            </a:r>
            <a:endParaRPr lang="en-US" altLang="ko-KR"/>
          </a:p>
        </p:txBody>
      </p:sp>
      <p:sp>
        <p:nvSpPr>
          <p:cNvPr id="16" name="TextBox 15"/>
          <p:cNvSpPr txBox="1"/>
          <p:nvPr/>
        </p:nvSpPr>
        <p:spPr>
          <a:xfrm>
            <a:off x="1123275" y="3789637"/>
            <a:ext cx="348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/>
              <a:t>문제 풀기에서 문제 추가하기</a:t>
            </a:r>
            <a:endParaRPr lang="en-US" altLang="ko-KR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539" y="2151125"/>
            <a:ext cx="5715000" cy="159448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9539" y="4363688"/>
            <a:ext cx="5715000" cy="20745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2707" y="5097708"/>
            <a:ext cx="3345788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/>
              <a:t>문제와 정답을 입력 받아</a:t>
            </a:r>
            <a:endParaRPr lang="en-US" altLang="ko-KR" sz="1600" b="1"/>
          </a:p>
          <a:p>
            <a:r>
              <a:rPr lang="ko-KR" altLang="en-US" sz="1600" b="1"/>
              <a:t>문제 리스트와 정답 리스트에 추가</a:t>
            </a:r>
          </a:p>
        </p:txBody>
      </p:sp>
    </p:spTree>
    <p:extLst>
      <p:ext uri="{BB962C8B-B14F-4D97-AF65-F5344CB8AC3E}">
        <p14:creationId xmlns:p14="http://schemas.microsoft.com/office/powerpoint/2010/main" val="510625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4.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시연 동영상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662" y="150956"/>
            <a:ext cx="785834" cy="785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2569" y="1005817"/>
            <a:ext cx="7140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ko-KR" altLang="en-US">
                <a:solidFill>
                  <a:srgbClr val="0070C0"/>
                </a:solidFill>
              </a:rPr>
              <a:t>실행과정을 설명하는 동영상을 추가하세요</a:t>
            </a:r>
            <a:r>
              <a:rPr lang="en-US" altLang="ko-KR">
                <a:solidFill>
                  <a:srgbClr val="0070C0"/>
                </a:solidFill>
              </a:rPr>
              <a:t>.(1~2</a:t>
            </a:r>
            <a:r>
              <a:rPr lang="ko-KR" altLang="en-US">
                <a:solidFill>
                  <a:srgbClr val="0070C0"/>
                </a:solidFill>
              </a:rPr>
              <a:t>분 정도</a:t>
            </a:r>
            <a:r>
              <a:rPr lang="en-US" altLang="ko-KR">
                <a:solidFill>
                  <a:srgbClr val="0070C0"/>
                </a:solidFill>
              </a:rPr>
              <a:t>)</a:t>
            </a:r>
          </a:p>
          <a:p>
            <a:pPr marL="0" lvl="1"/>
            <a:r>
              <a:rPr lang="en-US" altLang="ko-KR">
                <a:solidFill>
                  <a:srgbClr val="0070C0"/>
                </a:solidFill>
              </a:rPr>
              <a:t>* </a:t>
            </a:r>
            <a:r>
              <a:rPr lang="ko-KR" altLang="en-US">
                <a:solidFill>
                  <a:srgbClr val="FF0000"/>
                </a:solidFill>
              </a:rPr>
              <a:t>반드시 결과물을 시연하는 설명이 음성으로 들어가도록 하세요</a:t>
            </a:r>
            <a:r>
              <a:rPr lang="en-US" altLang="ko-KR">
                <a:solidFill>
                  <a:srgbClr val="FF0000"/>
                </a:solidFill>
              </a:rPr>
              <a:t>!!!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endParaRPr lang="en-US" altLang="ko-KR">
              <a:solidFill>
                <a:srgbClr val="FF0000"/>
              </a:solidFill>
            </a:endParaRPr>
          </a:p>
          <a:p>
            <a:pPr marL="0" lvl="1"/>
            <a:endParaRPr lang="en-US" altLang="ko-KR">
              <a:solidFill>
                <a:srgbClr val="0070C0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80241" y="2091873"/>
            <a:ext cx="6493256" cy="3823789"/>
            <a:chOff x="2580241" y="2091873"/>
            <a:chExt cx="6493256" cy="3823789"/>
          </a:xfrm>
        </p:grpSpPr>
        <p:sp>
          <p:nvSpPr>
            <p:cNvPr id="11" name="직사각형 10"/>
            <p:cNvSpPr/>
            <p:nvPr/>
          </p:nvSpPr>
          <p:spPr>
            <a:xfrm>
              <a:off x="2714018" y="2091873"/>
              <a:ext cx="6225702" cy="37937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9" b="-2369"/>
            <a:stretch/>
          </p:blipFill>
          <p:spPr>
            <a:xfrm>
              <a:off x="2580241" y="5504944"/>
              <a:ext cx="6493256" cy="410718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5312737" y="370669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ko-KR" altLang="en-US" i="1">
                <a:solidFill>
                  <a:srgbClr val="0070C0"/>
                </a:solidFill>
              </a:rPr>
              <a:t>동영상 추가</a:t>
            </a:r>
            <a:endParaRPr lang="en-US" altLang="ko-KR" i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34202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5.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실행 방법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662" y="150956"/>
            <a:ext cx="785834" cy="785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2301" y="2048466"/>
            <a:ext cx="10440000" cy="282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/>
              <a:t>1. </a:t>
            </a:r>
            <a:r>
              <a:rPr lang="ko-KR" altLang="en-US" sz="2000"/>
              <a:t>시작화면에서 모델학습 버튼을 누른다</a:t>
            </a:r>
            <a:r>
              <a:rPr lang="en-US" altLang="ko-KR" sz="2000"/>
              <a:t>. </a:t>
            </a:r>
            <a:endParaRPr lang="en-US" altLang="ko-KR" sz="2000"/>
          </a:p>
          <a:p>
            <a:pPr marL="914400" lvl="1" indent="-457200">
              <a:buFont typeface="+mj-ea"/>
              <a:buAutoNum type="circleNumDbPlain"/>
              <a:defRPr/>
            </a:pPr>
            <a:r>
              <a:rPr lang="ko-KR" altLang="en-US" sz="2000"/>
              <a:t>가짜사진과 진짜사진을 선택해 학습시킨다</a:t>
            </a:r>
            <a:r>
              <a:rPr lang="en-US" altLang="ko-KR" sz="2000"/>
              <a:t>.</a:t>
            </a:r>
            <a:endParaRPr lang="en-US" altLang="ko-KR" sz="2000"/>
          </a:p>
          <a:p>
            <a:pPr marL="457200" lvl="1" indent="0">
              <a:buFont typeface="+mj-ea"/>
              <a:buNone/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2.  </a:t>
            </a:r>
            <a:r>
              <a:rPr lang="ko-KR" altLang="en-US" sz="2000"/>
              <a:t>시작화면에서 파일선택 버튼을 누른다</a:t>
            </a:r>
            <a:r>
              <a:rPr lang="en-US" altLang="ko-KR" sz="2000"/>
              <a:t>. </a:t>
            </a:r>
            <a:endParaRPr lang="en-US" altLang="ko-KR" sz="2000"/>
          </a:p>
          <a:p>
            <a:pPr marL="914400" lvl="1" indent="-457200">
              <a:buFont typeface="+mj-ea"/>
              <a:buAutoNum type="circleNumDbPlain"/>
              <a:defRPr/>
            </a:pPr>
            <a:r>
              <a:rPr lang="ko-KR" altLang="en-US" sz="2000"/>
              <a:t>자신이 판별하고 싶은 사진이나 비디오를 선택한다</a:t>
            </a:r>
            <a:r>
              <a:rPr lang="en-US" altLang="ko-KR" sz="2000"/>
              <a:t>. 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3.</a:t>
            </a:r>
            <a:r>
              <a:rPr lang="ko-KR" altLang="en-US" sz="2000"/>
              <a:t> 판별 결과를 기다린다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4.</a:t>
            </a:r>
            <a:r>
              <a:rPr lang="ko-KR" altLang="en-US" sz="2000"/>
              <a:t> 판별 결과를 확인한다</a:t>
            </a:r>
            <a:r>
              <a:rPr lang="en-US" altLang="ko-KR" sz="2000"/>
              <a:t> 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26009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6.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참고 자료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662" y="150956"/>
            <a:ext cx="785834" cy="7858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888" y="1269517"/>
            <a:ext cx="10257763" cy="392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/>
              <a:t>참고 교재 및 사이트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   </a:t>
            </a:r>
            <a:r>
              <a:rPr lang="en-US" altLang="ko-KR">
                <a:solidFill>
                  <a:srgbClr val="0070c0"/>
                </a:solidFill>
                <a:hlinkClick r:id="rId4"/>
              </a:rPr>
              <a:t>https://wikidocs.net/164796</a:t>
            </a:r>
            <a:r>
              <a:rPr lang="ko-KR" altLang="en-US">
                <a:solidFill>
                  <a:srgbClr val="0070c0"/>
                </a:solidFill>
              </a:rPr>
              <a:t> 위키독스</a:t>
            </a:r>
            <a:endParaRPr lang="ko-KR" altLang="en-US">
              <a:solidFill>
                <a:srgbClr val="0070c0"/>
              </a:solidFill>
            </a:endParaRPr>
          </a:p>
          <a:p>
            <a:pPr lvl="0">
              <a:defRPr/>
            </a:pPr>
            <a:endParaRPr lang="ko-KR" altLang="en-US">
              <a:solidFill>
                <a:srgbClr val="0070c0"/>
              </a:solidFill>
            </a:endParaRPr>
          </a:p>
          <a:p>
            <a:pPr lvl="0">
              <a:defRPr/>
            </a:pPr>
            <a:r>
              <a:rPr lang="ko-KR" altLang="en-US"/>
              <a:t> </a:t>
            </a:r>
            <a:r>
              <a:rPr lang="en-US" altLang="ko-KR"/>
              <a:t>  </a:t>
            </a:r>
            <a:r>
              <a:rPr lang="en-US" altLang="ko-KR">
                <a:hlinkClick r:id="rId5"/>
              </a:rPr>
              <a:t>https://lcyking.tistory.com/entry/VGG-%EB%AA%A8%EB%8D%B8%EC%9D%98-%EA%B0%9C%EC%9A%94-%EB%B0%8F-%ED%8A%B9%EC%A7%95</a:t>
            </a:r>
            <a:r>
              <a:rPr lang="en-US" altLang="ko-KR"/>
              <a:t>  </a:t>
            </a:r>
            <a:r>
              <a:rPr lang="ko-KR" altLang="en-US"/>
              <a:t>관련 티스토리</a:t>
            </a:r>
            <a:endParaRPr lang="ko-KR" altLang="en-US"/>
          </a:p>
          <a:p>
            <a:pPr lvl="0">
              <a:defRPr/>
            </a:pPr>
            <a:br>
              <a:rPr lang="en-US" altLang="ko-KR"/>
            </a:b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marL="342900" indent="-342900">
              <a:buAutoNum type="arabicPeriod"/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2. </a:t>
            </a:r>
            <a:r>
              <a:rPr lang="ko-KR" altLang="en-US"/>
              <a:t>수정 내용</a:t>
            </a:r>
            <a:br>
              <a:rPr lang="en-US" altLang="ko-KR"/>
            </a:br>
            <a:r>
              <a:rPr lang="ko-KR" altLang="en-US"/>
              <a:t>딥페이크 사진을 다운로드하거나 공유하는 것이 불법이어서 </a:t>
            </a:r>
            <a:r>
              <a:rPr lang="en-US" altLang="ko-KR"/>
              <a:t>AI</a:t>
            </a:r>
            <a:r>
              <a:rPr lang="ko-KR" altLang="en-US"/>
              <a:t>사진으로 대체하였다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3. </a:t>
            </a:r>
            <a:r>
              <a:rPr lang="ko-KR" altLang="en-US"/>
              <a:t>참고 자료에서 수정한 비율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070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354E-6E5C-4027-A0B4-C6FE809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70" y="219983"/>
            <a:ext cx="10515600" cy="554932"/>
          </a:xfrm>
        </p:spPr>
        <p:txBody>
          <a:bodyPr>
            <a:normAutofit fontScale="90000"/>
          </a:bodyPr>
          <a:lstStyle/>
          <a:p>
            <a:r>
              <a:rPr lang="en-US" altLang="ko-KR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7. </a:t>
            </a:r>
            <a:r>
              <a:rPr lang="ko-KR" alt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향후 </a:t>
            </a:r>
            <a:r>
              <a: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계획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E1BD9D6-4A0D-443B-9D99-1E1F7F7A4241}"/>
              </a:ext>
            </a:extLst>
          </p:cNvPr>
          <p:cNvSpPr/>
          <p:nvPr/>
        </p:nvSpPr>
        <p:spPr>
          <a:xfrm>
            <a:off x="127001" y="774915"/>
            <a:ext cx="11937998" cy="5863102"/>
          </a:xfrm>
          <a:prstGeom prst="roundRect">
            <a:avLst>
              <a:gd name="adj" fmla="val 6245"/>
            </a:avLst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2FD6F-C77B-468E-A002-BFB6C47C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946" y="-112745"/>
            <a:ext cx="1213247" cy="1213247"/>
          </a:xfrm>
          <a:prstGeom prst="rect">
            <a:avLst/>
          </a:prstGeom>
        </p:spPr>
      </p:pic>
      <p:pic>
        <p:nvPicPr>
          <p:cNvPr id="5" name="그림 4" descr="우산이(가) 표시된 사진&#10;&#10;자동 생성된 설명">
            <a:extLst>
              <a:ext uri="{FF2B5EF4-FFF2-40B4-BE49-F238E27FC236}">
                <a16:creationId xmlns:a16="http://schemas.microsoft.com/office/drawing/2014/main" id="{A2C97DBF-D63D-42F3-9C62-1D9E0566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662" y="150956"/>
            <a:ext cx="785834" cy="7858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5675" y="2145688"/>
            <a:ext cx="10440000" cy="164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AutoNum type="arabicPeriod"/>
              <a:defRPr/>
            </a:pPr>
            <a:r>
              <a:rPr lang="ko-KR" altLang="en-US"/>
              <a:t>더 많은 데이터와 복잡한 네트워크 구조로 정확도 향상</a:t>
            </a:r>
            <a:endParaRPr lang="ko-KR" altLang="en-US"/>
          </a:p>
          <a:p>
            <a:pPr marL="342900" indent="-342900">
              <a:spcBef>
                <a:spcPts val="1200"/>
              </a:spcBef>
              <a:buAutoNum type="arabicPeriod"/>
              <a:defRPr/>
            </a:pPr>
            <a:r>
              <a:rPr lang="ko-KR" altLang="en-US"/>
              <a:t>실시간으로 데이터를 처리하여 딥페이크를 더욱 정확하고 신속하게 판별 할 수 있도록 개선</a:t>
            </a:r>
            <a:endParaRPr lang="ko-KR" altLang="en-US"/>
          </a:p>
          <a:p>
            <a:pPr marL="342900" indent="-342900">
              <a:spcBef>
                <a:spcPts val="1200"/>
              </a:spcBef>
              <a:buAutoNum type="arabicPeriod"/>
              <a:defRPr/>
            </a:pPr>
            <a:r>
              <a:rPr lang="ko-KR" altLang="en-US"/>
              <a:t>데이터를 더욱 많이 추가해서 더 정확한 판별 가능한 기능 개선</a:t>
            </a:r>
            <a:endParaRPr lang="ko-KR" altLang="en-US"/>
          </a:p>
          <a:p>
            <a:pPr marL="342900" indent="-342900">
              <a:spcBef>
                <a:spcPts val="1200"/>
              </a:spcBef>
              <a:buAutoNum type="arabicPeriod"/>
              <a:defRPr/>
            </a:pPr>
            <a:r>
              <a:rPr lang="en-US" altLang="ko-KR"/>
              <a:t>…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8016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382</ep:Words>
  <ep:PresentationFormat>와이드스크린</ep:PresentationFormat>
  <ep:Paragraphs>103</ep:Paragraphs>
  <ep:Slides>12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테마</vt:lpstr>
      <vt:lpstr>이 슬라이드는 결과물 설명 양식 및 예시를 포함하고 있습니다. 양식의 내용은 반드시 포함하여 작성하고 추가 가능합니다.  * 시연 동영상을 반드시 포함해야 합니다.</vt:lpstr>
      <vt:lpstr>딥페이크 판별 어플리케이션</vt:lpstr>
      <vt:lpstr>발표 순서</vt:lpstr>
      <vt:lpstr>2. 화면 흐름도</vt:lpstr>
      <vt:lpstr>1. 작품 소개</vt:lpstr>
      <vt:lpstr>2. 화면 흐름도</vt:lpstr>
      <vt:lpstr>3. 주요 기능 소개</vt:lpstr>
      <vt:lpstr>3. 주요 기능 소개</vt:lpstr>
      <vt:lpstr>4. 시연 동영상</vt:lpstr>
      <vt:lpstr>5. 실행 방법</vt:lpstr>
      <vt:lpstr>6. 참고 자료</vt:lpstr>
      <vt:lpstr>7. 향후 계획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2019-11-11T14:51:17.000</dcterms:created>
  <dc:creator>Minji Kim</dc:creator>
  <cp:lastModifiedBy>이솔림</cp:lastModifiedBy>
  <dcterms:modified xsi:type="dcterms:W3CDTF">2024-12-01T08:09:02.989</dcterms:modified>
  <cp:revision>93</cp:revision>
  <dc:title>간식을 먹는 생쥐를 쫓는 고양이 게임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